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3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Logistic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Supervised learning algorithm</a:t>
            </a:r>
          </a:p>
          <a:p>
            <a:pPr marL="0" indent="0">
              <a:buNone/>
            </a:pPr>
            <a:r>
              <a:rPr dirty="0"/>
              <a:t>• Used for binary classification</a:t>
            </a:r>
          </a:p>
          <a:p>
            <a:pPr marL="0" indent="0">
              <a:buNone/>
            </a:pPr>
            <a:r>
              <a:rPr dirty="0"/>
              <a:t>• Predicts probability (0 to 1)</a:t>
            </a:r>
          </a:p>
          <a:p>
            <a:pPr marL="0" indent="0">
              <a:buNone/>
            </a:pPr>
            <a:r>
              <a:rPr dirty="0"/>
              <a:t>• Uses sigmoid function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Logistic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Linear regression fails for classification</a:t>
            </a:r>
          </a:p>
          <a:p>
            <a:pPr marL="0" indent="0">
              <a:buNone/>
            </a:pPr>
            <a:r>
              <a:rPr dirty="0"/>
              <a:t>• Handles non-linearity</a:t>
            </a:r>
          </a:p>
          <a:p>
            <a:pPr marL="0" indent="0">
              <a:buNone/>
            </a:pPr>
            <a:r>
              <a:rPr dirty="0"/>
              <a:t>• Interpretable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Binary Classification</a:t>
            </a:r>
          </a:p>
          <a:p>
            <a:pPr marL="0" indent="0">
              <a:buNone/>
            </a:pPr>
            <a:r>
              <a:rPr dirty="0"/>
              <a:t>• Examples:</a:t>
            </a:r>
          </a:p>
          <a:p>
            <a:pPr marL="0" indent="0">
              <a:buNone/>
            </a:pPr>
            <a:r>
              <a:rPr dirty="0"/>
              <a:t>  - Titanic Survival</a:t>
            </a:r>
          </a:p>
          <a:p>
            <a:pPr marL="0" indent="0">
              <a:buNone/>
            </a:pPr>
            <a:r>
              <a:rPr dirty="0"/>
              <a:t>  - Spam Detection</a:t>
            </a:r>
          </a:p>
          <a:p>
            <a:pPr marL="0" indent="0">
              <a:buNone/>
            </a:pPr>
            <a:r>
              <a:rPr dirty="0"/>
              <a:t>  - Disease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 = b0 + b1x1 + b2x2 + ... + bnxn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σ(z) = 1 / (1 + e^(-z))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Converts z to probability</a:t>
            </a:r>
          </a:p>
          <a:p>
            <a:pPr marL="0" indent="0">
              <a:buNone/>
            </a:pPr>
            <a:r>
              <a:rPr dirty="0"/>
              <a:t>• Output range (0,1)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Threshold = 0.5</a:t>
            </a:r>
          </a:p>
          <a:p>
            <a:pPr marL="0" indent="0">
              <a:buNone/>
            </a:pPr>
            <a:r>
              <a:rPr dirty="0"/>
              <a:t>• P ≥ 0.5 → Class 1</a:t>
            </a:r>
          </a:p>
          <a:p>
            <a:pPr marL="0" indent="0">
              <a:buNone/>
            </a:pPr>
            <a:r>
              <a:rPr dirty="0"/>
              <a:t>• P &lt; 0.5 → Class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Odds &amp; Log-Odds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Odds = P / (1 − P)</a:t>
            </a:r>
          </a:p>
          <a:p>
            <a:r>
              <a:rPr dirty="0"/>
              <a:t>Logit = log(P / (1 − P))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Binary Cross Entropy:</a:t>
            </a:r>
          </a:p>
          <a:p>
            <a:r>
              <a:rPr dirty="0"/>
              <a:t>Loss = −[y log(p) + (1 − y) log(1 − p)]</a:t>
            </a:r>
            <a:endParaRPr lang="en-US" dirty="0"/>
          </a:p>
          <a:p>
            <a:pPr marL="0" indent="0">
              <a:buNone/>
            </a:pPr>
            <a:endParaRPr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Gradient Descent</a:t>
            </a:r>
          </a:p>
          <a:p>
            <a:pPr marL="0" indent="0">
              <a:buNone/>
            </a:pPr>
            <a:r>
              <a:rPr dirty="0"/>
              <a:t>• Learning Rate α</a:t>
            </a:r>
          </a:p>
          <a:p>
            <a:pPr marL="0" indent="0">
              <a:buNone/>
            </a:pPr>
            <a:r>
              <a:rPr dirty="0"/>
              <a:t>• Iterative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 = b − α (∂Loss / ∂b)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Features:</a:t>
            </a:r>
          </a:p>
          <a:p>
            <a:pPr marL="0" indent="0">
              <a:buNone/>
            </a:pPr>
            <a:r>
              <a:rPr dirty="0"/>
              <a:t>• Age</a:t>
            </a:r>
          </a:p>
          <a:p>
            <a:pPr marL="0" indent="0">
              <a:buNone/>
            </a:pPr>
            <a:r>
              <a:rPr dirty="0"/>
              <a:t>• Fare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Target:</a:t>
            </a:r>
          </a:p>
          <a:p>
            <a:pPr marL="0" indent="0">
              <a:buNone/>
            </a:pPr>
            <a:r>
              <a:rPr dirty="0"/>
              <a:t>• Survived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b0 = −3</a:t>
            </a:r>
          </a:p>
          <a:p>
            <a:r>
              <a:t>b1 = −0.04 (Age)</a:t>
            </a:r>
          </a:p>
          <a:p>
            <a:r>
              <a:t>b2 = 0.03 (Fare)</a:t>
            </a:r>
          </a:p>
          <a:p>
            <a:endParaRPr/>
          </a:p>
          <a:p>
            <a:r>
              <a:t>Age = 25, Fare =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Compute 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 = −3 − (0.04 × 25) + (0.03 × 60)</a:t>
            </a:r>
          </a:p>
          <a:p>
            <a:r>
              <a:t>z = −2.2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Sigmoid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 = 1 / (1 + e^(2.2))</a:t>
            </a:r>
          </a:p>
          <a:p>
            <a:r>
              <a:rPr dirty="0"/>
              <a:t>P ≈ 0.10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Probability = 10%</a:t>
            </a:r>
          </a:p>
          <a:p>
            <a:pPr marL="0" indent="0">
              <a:buNone/>
            </a:pPr>
            <a:r>
              <a:rPr dirty="0"/>
              <a:t>• Predicted: Did NOT survive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Accuracy</a:t>
            </a:r>
          </a:p>
          <a:p>
            <a:pPr marL="0" indent="0">
              <a:buNone/>
            </a:pPr>
            <a:r>
              <a:rPr dirty="0"/>
              <a:t>• Precision</a:t>
            </a:r>
          </a:p>
          <a:p>
            <a:pPr marL="0" indent="0">
              <a:buNone/>
            </a:pPr>
            <a:r>
              <a:rPr dirty="0"/>
              <a:t>• Recall</a:t>
            </a:r>
          </a:p>
          <a:p>
            <a:pPr marL="0" indent="0">
              <a:buNone/>
            </a:pPr>
            <a:r>
              <a:rPr dirty="0"/>
              <a:t>• F1-score</a:t>
            </a:r>
          </a:p>
          <a:p>
            <a:pPr marL="0" indent="0">
              <a:buNone/>
            </a:pPr>
            <a:r>
              <a:rPr dirty="0"/>
              <a:t>• ROC-AUC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174" y="1700980"/>
            <a:ext cx="7444755" cy="4425181"/>
          </a:xfrm>
        </p:spPr>
        <p:txBody>
          <a:bodyPr>
            <a:normAutofit/>
          </a:bodyPr>
          <a:lstStyle/>
          <a:p>
            <a:r>
              <a:rPr dirty="0"/>
              <a:t>TP | FP</a:t>
            </a:r>
          </a:p>
          <a:p>
            <a:r>
              <a:rPr dirty="0"/>
              <a:t>FN | TN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2050" name="Picture 2" descr="Measuring Performance: The Confusion Matrix – Glass Box Medicine">
            <a:extLst>
              <a:ext uri="{FF2B5EF4-FFF2-40B4-BE49-F238E27FC236}">
                <a16:creationId xmlns:a16="http://schemas.microsoft.com/office/drawing/2014/main" id="{436CCE87-0829-6AAD-C6BE-ED976073B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53031"/>
            <a:ext cx="8229600" cy="366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L1 (Lasso)</a:t>
            </a:r>
            <a:endParaRPr lang="en-US" dirty="0"/>
          </a:p>
          <a:p>
            <a:pPr marL="0" indent="0">
              <a:buNone/>
            </a:pPr>
            <a:r>
              <a:rPr lang="en-US" sz="1400" dirty="0"/>
              <a:t>Adds the sum of the absolute values of the coefficients as a penalty term to the loss function. It can drive some coefficients to exactly zero, effectively performing feature selection.</a:t>
            </a:r>
            <a:endParaRPr sz="1400" dirty="0"/>
          </a:p>
          <a:p>
            <a:pPr marL="0" indent="0">
              <a:buNone/>
            </a:pPr>
            <a:r>
              <a:rPr dirty="0"/>
              <a:t>• L2 (Ridge)</a:t>
            </a:r>
            <a:endParaRPr lang="en-US" dirty="0"/>
          </a:p>
          <a:p>
            <a:pPr marL="0" indent="0">
              <a:buNone/>
            </a:pPr>
            <a:r>
              <a:rPr lang="en-US" sz="1400" dirty="0"/>
              <a:t>Adds the squared magnitude of coefficients as a penalty term to the loss function. It reduces the complexity of the model by making the coefficients smaller but rarely sets them to zero.</a:t>
            </a:r>
            <a:endParaRPr sz="1400" dirty="0"/>
          </a:p>
          <a:p>
            <a:pPr marL="0" indent="0">
              <a:buNone/>
            </a:pPr>
            <a:r>
              <a:rPr dirty="0"/>
              <a:t>• Prevents overfitting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Simple</a:t>
            </a:r>
          </a:p>
          <a:p>
            <a:pPr marL="0" indent="0">
              <a:buNone/>
            </a:pPr>
            <a:r>
              <a:rPr dirty="0"/>
              <a:t>• Probabilistic output</a:t>
            </a:r>
          </a:p>
          <a:p>
            <a:pPr marL="0" indent="0">
              <a:buNone/>
            </a:pPr>
            <a:r>
              <a:rPr dirty="0"/>
              <a:t>• Efficient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Linear decision boundary</a:t>
            </a:r>
          </a:p>
          <a:p>
            <a:pPr marL="0" indent="0">
              <a:buNone/>
            </a:pPr>
            <a:r>
              <a:rPr dirty="0"/>
              <a:t>• Limited for complex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Medical diagnosis</a:t>
            </a:r>
          </a:p>
          <a:p>
            <a:pPr marL="0" indent="0">
              <a:buNone/>
            </a:pPr>
            <a:r>
              <a:rPr dirty="0"/>
              <a:t>• Credit scoring</a:t>
            </a:r>
          </a:p>
          <a:p>
            <a:pPr marL="0" indent="0">
              <a:buNone/>
            </a:pPr>
            <a:r>
              <a:rPr dirty="0"/>
              <a:t>• Fraud detection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Logistic regression is non-linear</a:t>
            </a:r>
          </a:p>
          <a:p>
            <a:pPr marL="0" indent="0">
              <a:buNone/>
            </a:pPr>
            <a:r>
              <a:rPr dirty="0"/>
              <a:t>• Uses sigmoid</a:t>
            </a:r>
          </a:p>
          <a:p>
            <a:pPr marL="0" indent="0">
              <a:buNone/>
            </a:pPr>
            <a:r>
              <a:rPr dirty="0"/>
              <a:t>• Widely used in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434</Words>
  <Application>Microsoft Office PowerPoint</Application>
  <PresentationFormat>On-screen Show (4:3)</PresentationFormat>
  <Paragraphs>90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What is Logistic Regression?</vt:lpstr>
      <vt:lpstr>Why Logistic Regression?</vt:lpstr>
      <vt:lpstr>Problem Type</vt:lpstr>
      <vt:lpstr>Model Equation</vt:lpstr>
      <vt:lpstr>Sigmoid Function</vt:lpstr>
      <vt:lpstr>Decision Rule</vt:lpstr>
      <vt:lpstr>Odds &amp; Log-Odds</vt:lpstr>
      <vt:lpstr>Loss Function</vt:lpstr>
      <vt:lpstr>Optimization</vt:lpstr>
      <vt:lpstr>Parameter Update</vt:lpstr>
      <vt:lpstr>Titanic Dataset</vt:lpstr>
      <vt:lpstr>Example Values</vt:lpstr>
      <vt:lpstr>Step 1: Compute z</vt:lpstr>
      <vt:lpstr>Step 2: Sigmoid Output</vt:lpstr>
      <vt:lpstr>Prediction</vt:lpstr>
      <vt:lpstr>Evaluation Metrics</vt:lpstr>
      <vt:lpstr>Confusion Matrix</vt:lpstr>
      <vt:lpstr>Regularization</vt:lpstr>
      <vt:lpstr>Advantages</vt:lpstr>
      <vt:lpstr>Disadvantages</vt:lpstr>
      <vt:lpstr>Applications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Haidar Ali</cp:lastModifiedBy>
  <cp:revision>3</cp:revision>
  <dcterms:created xsi:type="dcterms:W3CDTF">2013-01-27T09:14:16Z</dcterms:created>
  <dcterms:modified xsi:type="dcterms:W3CDTF">2026-01-29T11:15:31Z</dcterms:modified>
  <cp:category/>
</cp:coreProperties>
</file>