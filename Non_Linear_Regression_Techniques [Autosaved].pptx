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618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Non-Linear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regression model where the relationship between independent and dependent variables is non-linear</a:t>
            </a:r>
          </a:p>
          <a:p>
            <a:pPr marL="0" indent="0">
              <a:buNone/>
            </a:pPr>
            <a:r>
              <a:rPr dirty="0"/>
              <a:t>• The model cannot be represented as a straight line</a:t>
            </a:r>
          </a:p>
          <a:p>
            <a:pPr marL="0" indent="0">
              <a:buNone/>
            </a:pPr>
            <a:r>
              <a:rPr dirty="0"/>
              <a:t>• Used when linear regression fails to capture data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Non-Linear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Real-world problems are rarely linear</a:t>
            </a:r>
          </a:p>
          <a:p>
            <a:pPr marL="0" indent="0">
              <a:buNone/>
            </a:pPr>
            <a:r>
              <a:rPr dirty="0"/>
              <a:t>• Captures complex patterns</a:t>
            </a:r>
          </a:p>
          <a:p>
            <a:pPr marL="0" indent="0">
              <a:buNone/>
            </a:pPr>
            <a:r>
              <a:rPr dirty="0"/>
              <a:t>• Better prediction accuracy for curved trends</a:t>
            </a:r>
          </a:p>
          <a:p>
            <a:pPr marL="0" indent="0">
              <a:buNone/>
            </a:pPr>
            <a:r>
              <a:rPr dirty="0"/>
              <a:t>• Widely used in ML, AI, Economics, Biology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Non-Linear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 = f(x, θ) + ε</a:t>
            </a:r>
          </a:p>
          <a:p>
            <a:pPr marL="0" indent="0">
              <a:buNone/>
            </a:pPr>
            <a:r>
              <a:rPr dirty="0"/>
              <a:t>• f → non-linear function</a:t>
            </a:r>
          </a:p>
          <a:p>
            <a:pPr marL="0" indent="0">
              <a:buNone/>
            </a:pPr>
            <a:r>
              <a:rPr dirty="0"/>
              <a:t>• θ → parameters</a:t>
            </a:r>
          </a:p>
          <a:p>
            <a:pPr marL="0" indent="0">
              <a:buNone/>
            </a:pPr>
            <a:r>
              <a:rPr dirty="0"/>
              <a:t>• ε → error term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Non-Linear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Polynomial Regression</a:t>
            </a:r>
          </a:p>
          <a:p>
            <a:pPr marL="0" indent="0">
              <a:buNone/>
            </a:pPr>
            <a:r>
              <a:rPr dirty="0"/>
              <a:t>• Exponential Regression</a:t>
            </a:r>
          </a:p>
          <a:p>
            <a:pPr marL="0" indent="0">
              <a:buNone/>
            </a:pPr>
            <a:r>
              <a:rPr dirty="0"/>
              <a:t>• Logarithmic Regression</a:t>
            </a:r>
          </a:p>
          <a:p>
            <a:pPr marL="0" indent="0">
              <a:buNone/>
            </a:pPr>
            <a:r>
              <a:rPr dirty="0"/>
              <a:t>• Power Regression</a:t>
            </a:r>
          </a:p>
          <a:p>
            <a:pPr marL="0" indent="0">
              <a:buNone/>
            </a:pPr>
            <a:r>
              <a:rPr dirty="0"/>
              <a:t>• Sigmoid / Logistic Regression</a:t>
            </a:r>
          </a:p>
          <a:p>
            <a:pPr marL="0" indent="0">
              <a:buNone/>
            </a:pPr>
            <a:r>
              <a:rPr dirty="0"/>
              <a:t>• Piecewise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Uses polynomial terms of degree &gt; 1</a:t>
            </a:r>
          </a:p>
          <a:p>
            <a:pPr marL="0" indent="0">
              <a:buNone/>
            </a:pPr>
            <a:r>
              <a:rPr dirty="0"/>
              <a:t>• Equation: y = b0 + b1x + b2x² + ... + </a:t>
            </a:r>
            <a:r>
              <a:rPr dirty="0" err="1"/>
              <a:t>bnx</a:t>
            </a:r>
            <a:r>
              <a:rPr dirty="0"/>
              <a:t>ⁿ</a:t>
            </a:r>
          </a:p>
          <a:p>
            <a:pPr marL="0" indent="0">
              <a:buNone/>
            </a:pPr>
            <a:r>
              <a:rPr dirty="0"/>
              <a:t>• Models curved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Regression –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Pros:</a:t>
            </a:r>
          </a:p>
          <a:p>
            <a:pPr marL="0" indent="0">
              <a:buNone/>
            </a:pPr>
            <a:r>
              <a:rPr dirty="0"/>
              <a:t>• Flexible</a:t>
            </a:r>
          </a:p>
          <a:p>
            <a:pPr marL="0" indent="0">
              <a:buNone/>
            </a:pPr>
            <a:r>
              <a:rPr dirty="0"/>
              <a:t>• Easy to implement</a:t>
            </a:r>
          </a:p>
          <a:p>
            <a:endParaRPr dirty="0"/>
          </a:p>
          <a:p>
            <a:r>
              <a:rPr dirty="0"/>
              <a:t>Cons:</a:t>
            </a:r>
          </a:p>
          <a:p>
            <a:pPr marL="0" indent="0">
              <a:buNone/>
            </a:pPr>
            <a:r>
              <a:rPr dirty="0"/>
              <a:t>• Overfitting risk</a:t>
            </a:r>
          </a:p>
          <a:p>
            <a:pPr marL="0" indent="0">
              <a:buNone/>
            </a:pPr>
            <a:r>
              <a:rPr dirty="0"/>
              <a:t>• Poor extrapolation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Used when growth/decay rate increases rapidly</a:t>
            </a:r>
          </a:p>
          <a:p>
            <a:pPr marL="0" indent="0">
              <a:buNone/>
            </a:pPr>
            <a:r>
              <a:rPr dirty="0"/>
              <a:t>• Equation: y = ae^(bx)</a:t>
            </a:r>
          </a:p>
          <a:p>
            <a:pPr marL="0" indent="0">
              <a:buNone/>
            </a:pPr>
            <a:r>
              <a:rPr dirty="0"/>
              <a:t>• Common in population growth, finance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Logarithmic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Used when growth rate decreases over time</a:t>
            </a:r>
          </a:p>
          <a:p>
            <a:pPr marL="0" indent="0">
              <a:buNone/>
            </a:pPr>
            <a:r>
              <a:rPr dirty="0"/>
              <a:t>• Equation: y = a + b log(x)</a:t>
            </a:r>
          </a:p>
          <a:p>
            <a:pPr marL="0" indent="0">
              <a:buNone/>
            </a:pPr>
            <a:r>
              <a:rPr dirty="0"/>
              <a:t>• Common in learning curves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Relationship follows power law</a:t>
            </a:r>
          </a:p>
          <a:p>
            <a:pPr marL="0" indent="0">
              <a:buNone/>
            </a:pPr>
            <a:r>
              <a:rPr dirty="0"/>
              <a:t>• Equation: y = </a:t>
            </a:r>
            <a:r>
              <a:rPr dirty="0" err="1"/>
              <a:t>ax^b</a:t>
            </a:r>
            <a:endParaRPr dirty="0"/>
          </a:p>
          <a:p>
            <a:pPr marL="0" indent="0">
              <a:buNone/>
            </a:pPr>
            <a:r>
              <a:rPr dirty="0"/>
              <a:t>• Used in physics, economics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/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S-shaped curve</a:t>
            </a:r>
          </a:p>
          <a:p>
            <a:pPr marL="0" indent="0">
              <a:buNone/>
            </a:pPr>
            <a:r>
              <a:rPr dirty="0"/>
              <a:t>• Equation: y = 1 / (1 + e^-x)</a:t>
            </a:r>
          </a:p>
          <a:p>
            <a:pPr marL="0" indent="0">
              <a:buNone/>
            </a:pPr>
            <a:r>
              <a:rPr dirty="0"/>
              <a:t>• Used in classification &amp; probability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Least Squares Method</a:t>
            </a:r>
          </a:p>
          <a:p>
            <a:pPr marL="0" indent="0">
              <a:buNone/>
            </a:pPr>
            <a:r>
              <a:rPr dirty="0"/>
              <a:t>• Gradient Descent</a:t>
            </a:r>
          </a:p>
          <a:p>
            <a:pPr marL="0" indent="0">
              <a:buNone/>
            </a:pPr>
            <a:r>
              <a:rPr dirty="0"/>
              <a:t>• Non-linear optimization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 in Non-Linear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Iteratively updates parameters</a:t>
            </a:r>
          </a:p>
          <a:p>
            <a:pPr marL="0" indent="0">
              <a:buNone/>
            </a:pPr>
            <a:r>
              <a:rPr dirty="0"/>
              <a:t>• Minimizes loss function</a:t>
            </a:r>
          </a:p>
          <a:p>
            <a:pPr marL="0" indent="0">
              <a:buNone/>
            </a:pPr>
            <a:r>
              <a:rPr dirty="0"/>
              <a:t>• Sensitive to learning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in Non-Linear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Occurs when model is too complex</a:t>
            </a:r>
          </a:p>
          <a:p>
            <a:pPr marL="0" indent="0">
              <a:buNone/>
            </a:pPr>
            <a:r>
              <a:rPr dirty="0"/>
              <a:t>• Fits noise instead of pattern</a:t>
            </a:r>
          </a:p>
          <a:p>
            <a:pPr marL="0" indent="0">
              <a:buNone/>
            </a:pPr>
            <a:r>
              <a:rPr dirty="0"/>
              <a:t>• Solution: Regularization, Cross-validation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R² Score</a:t>
            </a:r>
          </a:p>
          <a:p>
            <a:pPr marL="0" indent="0">
              <a:buNone/>
            </a:pPr>
            <a:r>
              <a:rPr dirty="0"/>
              <a:t>• Mean Squared Error (MSE)</a:t>
            </a:r>
          </a:p>
          <a:p>
            <a:pPr marL="0" indent="0">
              <a:buNone/>
            </a:pPr>
            <a:r>
              <a:rPr dirty="0"/>
              <a:t>• Root Mean Squared Error (RMSE)</a:t>
            </a:r>
          </a:p>
          <a:p>
            <a:pPr marL="0" indent="0">
              <a:buNone/>
            </a:pPr>
            <a:r>
              <a:rPr dirty="0"/>
              <a:t>• Mean Absolute Error (MAE)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Stock Market Prediction</a:t>
            </a:r>
          </a:p>
          <a:p>
            <a:pPr marL="0" indent="0">
              <a:buNone/>
            </a:pPr>
            <a:r>
              <a:rPr dirty="0"/>
              <a:t>• Population Growth</a:t>
            </a:r>
          </a:p>
          <a:p>
            <a:pPr marL="0" indent="0">
              <a:buNone/>
            </a:pPr>
            <a:r>
              <a:rPr dirty="0"/>
              <a:t>• Medical Diagnosis</a:t>
            </a:r>
          </a:p>
          <a:p>
            <a:pPr marL="0" indent="0">
              <a:buNone/>
            </a:pPr>
            <a:r>
              <a:rPr dirty="0"/>
              <a:t>• Image Processing</a:t>
            </a:r>
          </a:p>
          <a:p>
            <a:pPr marL="0" indent="0">
              <a:buNone/>
            </a:pPr>
            <a:r>
              <a:rPr dirty="0"/>
              <a:t>• Machine Learning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vs Non-Linear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Linear:</a:t>
            </a:r>
          </a:p>
          <a:p>
            <a:pPr marL="0" indent="0">
              <a:buNone/>
            </a:pPr>
            <a:r>
              <a:rPr dirty="0"/>
              <a:t>• Straight line</a:t>
            </a:r>
          </a:p>
          <a:p>
            <a:pPr marL="0" indent="0">
              <a:buNone/>
            </a:pPr>
            <a:r>
              <a:rPr dirty="0"/>
              <a:t>• Simple</a:t>
            </a:r>
          </a:p>
          <a:p>
            <a:endParaRPr dirty="0"/>
          </a:p>
          <a:p>
            <a:r>
              <a:rPr dirty="0"/>
              <a:t>Non-Linear:</a:t>
            </a:r>
          </a:p>
          <a:p>
            <a:pPr marL="0" indent="0">
              <a:buNone/>
            </a:pPr>
            <a:r>
              <a:rPr dirty="0"/>
              <a:t>• Curved</a:t>
            </a:r>
          </a:p>
          <a:p>
            <a:pPr marL="0" indent="0">
              <a:buNone/>
            </a:pPr>
            <a:r>
              <a:rPr dirty="0"/>
              <a:t>• Complex but powerful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flexibility</a:t>
            </a:r>
          </a:p>
          <a:p>
            <a:pPr marL="0" indent="0">
              <a:buNone/>
            </a:pPr>
            <a:r>
              <a:rPr dirty="0"/>
              <a:t>• Better real-world modeling</a:t>
            </a:r>
          </a:p>
          <a:p>
            <a:pPr marL="0" indent="0">
              <a:buNone/>
            </a:pPr>
            <a:r>
              <a:rPr dirty="0"/>
              <a:t>• Captures complex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Computationally expensive</a:t>
            </a:r>
          </a:p>
          <a:p>
            <a:pPr marL="0" indent="0">
              <a:buNone/>
            </a:pPr>
            <a:r>
              <a:rPr dirty="0"/>
              <a:t>• Risk of overfitting</a:t>
            </a:r>
          </a:p>
          <a:p>
            <a:pPr marL="0" indent="0">
              <a:buNone/>
            </a:pPr>
            <a:r>
              <a:rPr dirty="0"/>
              <a:t>• Harder to interpret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Non-linear regression models complex relationships</a:t>
            </a:r>
          </a:p>
          <a:p>
            <a:pPr marL="0" indent="0">
              <a:buNone/>
            </a:pPr>
            <a:r>
              <a:rPr dirty="0"/>
              <a:t>• Multiple types exist for different data patterns</a:t>
            </a:r>
          </a:p>
          <a:p>
            <a:pPr marL="0" indent="0">
              <a:buNone/>
            </a:pPr>
            <a:r>
              <a:rPr dirty="0"/>
              <a:t>• Widely used in ML and real-world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440</Words>
  <Application>Microsoft Office PowerPoint</Application>
  <PresentationFormat>On-screen Show (4:3)</PresentationFormat>
  <Paragraphs>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What is Non-Linear Regression?</vt:lpstr>
      <vt:lpstr>Why Non-Linear Regression?</vt:lpstr>
      <vt:lpstr>General Non-Linear Model</vt:lpstr>
      <vt:lpstr>Types of Non-Linear Regression</vt:lpstr>
      <vt:lpstr>Polynomial Regression</vt:lpstr>
      <vt:lpstr>Polynomial Regression – Pros &amp; Cons</vt:lpstr>
      <vt:lpstr>Exponential Regression</vt:lpstr>
      <vt:lpstr>Logarithmic Regression</vt:lpstr>
      <vt:lpstr>Power Regression</vt:lpstr>
      <vt:lpstr>Sigmoid / Logistic Regression</vt:lpstr>
      <vt:lpstr>Parameter Estimation</vt:lpstr>
      <vt:lpstr>Gradient Descent in Non-Linear Models</vt:lpstr>
      <vt:lpstr>Overfitting in Non-Linear Regression</vt:lpstr>
      <vt:lpstr>Evaluation Metrics</vt:lpstr>
      <vt:lpstr>Applications</vt:lpstr>
      <vt:lpstr>Linear vs Non-Linear Regression</vt:lpstr>
      <vt:lpstr>Advantages</vt:lpstr>
      <vt:lpstr>Disadvantages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Md Haidar Ali</cp:lastModifiedBy>
  <cp:revision>2</cp:revision>
  <dcterms:created xsi:type="dcterms:W3CDTF">2013-01-27T09:14:16Z</dcterms:created>
  <dcterms:modified xsi:type="dcterms:W3CDTF">2026-01-28T06:05:18Z</dcterms:modified>
  <cp:category/>
</cp:coreProperties>
</file>